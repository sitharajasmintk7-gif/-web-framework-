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WEB FRAMEWORK</a:t>
            </a:r>
          </a:p>
          <a:p>
            <a:pPr algn="l">
              <a:defRPr sz="2400"/>
            </a:pPr>
            <a:r>
              <a:t>Seminar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1 – Introduction to Web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A Web Framework is a software tool used to build websites and web applications.</a:t>
            </a:r>
          </a:p>
          <a:p>
            <a:pPr>
              <a:spcAft>
                <a:spcPts val="1000"/>
              </a:spcAft>
              <a:defRPr sz="2000"/>
            </a:pPr>
            <a:r>
              <a:t>• It provides ready-made structures and tools for developers.</a:t>
            </a:r>
          </a:p>
          <a:p>
            <a:pPr>
              <a:spcAft>
                <a:spcPts val="1000"/>
              </a:spcAft>
              <a:defRPr sz="2000"/>
            </a:pPr>
            <a:r>
              <a:t>• It reduces coding time and makes development easier.</a:t>
            </a:r>
          </a:p>
          <a:p>
            <a:pPr>
              <a:spcAft>
                <a:spcPts val="1000"/>
              </a:spcAft>
              <a:defRPr sz="2000"/>
            </a:pPr>
            <a:r>
              <a:t>• Website → mainly provides information; Web Application → allows user interaction.</a:t>
            </a:r>
          </a:p>
          <a:p>
            <a:pPr>
              <a:spcAft>
                <a:spcPts val="1000"/>
              </a:spcAft>
              <a:defRPr sz="2000"/>
            </a:pPr>
            <a:r>
              <a:t>• Examples: Django, Flask, Laravel, React, Angular.</a:t>
            </a:r>
          </a:p>
          <a:p>
            <a:pPr>
              <a:spcAft>
                <a:spcPts val="1000"/>
              </a:spcAft>
              <a:defRPr sz="2000"/>
            </a:pPr>
            <a:r>
              <a:t>• Benefits: Faster development, reusable code, security, easy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1 – Simple Real-Life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Building a house from scratch takes more time.</a:t>
            </a:r>
          </a:p>
          <a:p>
            <a:pPr>
              <a:spcAft>
                <a:spcPts val="1000"/>
              </a:spcAft>
              <a:defRPr sz="2000"/>
            </a:pPr>
            <a:r>
              <a:t>• A framework is like a ready-made house structure.</a:t>
            </a:r>
          </a:p>
          <a:p>
            <a:pPr>
              <a:spcAft>
                <a:spcPts val="1000"/>
              </a:spcAft>
              <a:defRPr sz="2000"/>
            </a:pPr>
            <a:r>
              <a:t>• Developers can focus on features instead of writing everything from zero.</a:t>
            </a:r>
          </a:p>
          <a:p>
            <a:pPr>
              <a:spcAft>
                <a:spcPts val="1000"/>
              </a:spcAft>
              <a:defRPr sz="2000"/>
            </a:pPr>
            <a:r>
              <a:t>• Example: Django provides routing, database support and authentication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2 – Working of Web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Client: The user's browser or device.</a:t>
            </a:r>
          </a:p>
          <a:p>
            <a:pPr>
              <a:spcAft>
                <a:spcPts val="1000"/>
              </a:spcAft>
              <a:defRPr sz="2000"/>
            </a:pPr>
            <a:r>
              <a:t>• Server: Computer that processes requests and sends responses.</a:t>
            </a:r>
          </a:p>
          <a:p>
            <a:pPr>
              <a:spcAft>
                <a:spcPts val="1000"/>
              </a:spcAft>
              <a:defRPr sz="2000"/>
            </a:pPr>
            <a:r>
              <a:t>• Browser sends a request to the web server.</a:t>
            </a:r>
          </a:p>
          <a:p>
            <a:pPr>
              <a:spcAft>
                <a:spcPts val="1000"/>
              </a:spcAft>
              <a:defRPr sz="2000"/>
            </a:pPr>
            <a:r>
              <a:t>• Web framework receives and processes the request.</a:t>
            </a:r>
          </a:p>
          <a:p>
            <a:pPr>
              <a:spcAft>
                <a:spcPts val="1000"/>
              </a:spcAft>
              <a:defRPr sz="2000"/>
            </a:pPr>
            <a:r>
              <a:t>• The server sends a response back to the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2 – Request, Response &amp;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Request → Message sent by the browser to the server.</a:t>
            </a:r>
          </a:p>
          <a:p>
            <a:pPr>
              <a:spcAft>
                <a:spcPts val="1000"/>
              </a:spcAft>
              <a:defRPr sz="2000"/>
            </a:pPr>
            <a:r>
              <a:t>• Response → Data sent back from the server to the browser.</a:t>
            </a:r>
          </a:p>
          <a:p>
            <a:pPr>
              <a:spcAft>
                <a:spcPts val="1000"/>
              </a:spcAft>
              <a:defRPr sz="2000"/>
            </a:pPr>
            <a:r>
              <a:t>• URL → Address used to access a web resource.</a:t>
            </a:r>
          </a:p>
          <a:p>
            <a:pPr>
              <a:spcAft>
                <a:spcPts val="1000"/>
              </a:spcAft>
              <a:defRPr sz="2000"/>
            </a:pPr>
            <a:r>
              <a:t>• Routing → Connects a URL to the correct function or page.</a:t>
            </a:r>
          </a:p>
          <a:p>
            <a:pPr>
              <a:spcAft>
                <a:spcPts val="1000"/>
              </a:spcAft>
              <a:defRPr sz="2000"/>
            </a:pPr>
            <a:r>
              <a:t>• Basic flow: Browser → Request → Framework → View/Logic → Response →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2 – Simple Working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User enters: example.com/about</a:t>
            </a:r>
          </a:p>
          <a:p>
            <a:pPr>
              <a:spcAft>
                <a:spcPts val="1000"/>
              </a:spcAft>
              <a:defRPr sz="2000"/>
            </a:pPr>
            <a:r>
              <a:t>• Browser sends a request to the server.</a:t>
            </a:r>
          </a:p>
          <a:p>
            <a:pPr>
              <a:spcAft>
                <a:spcPts val="1000"/>
              </a:spcAft>
              <a:defRPr sz="2000"/>
            </a:pPr>
            <a:r>
              <a:t>• Framework checks the URL route.</a:t>
            </a:r>
          </a:p>
          <a:p>
            <a:pPr>
              <a:spcAft>
                <a:spcPts val="1000"/>
              </a:spcAft>
              <a:defRPr sz="2000"/>
            </a:pPr>
            <a:r>
              <a:t>• Correct view/function is executed.</a:t>
            </a:r>
          </a:p>
          <a:p>
            <a:pPr>
              <a:spcAft>
                <a:spcPts val="1000"/>
              </a:spcAft>
              <a:defRPr sz="2000"/>
            </a:pPr>
            <a:r>
              <a:t>• Server sends the About page as a response.</a:t>
            </a:r>
          </a:p>
          <a:p>
            <a:pPr>
              <a:spcAft>
                <a:spcPts val="1000"/>
              </a:spcAft>
              <a:defRPr sz="2000"/>
            </a:pPr>
            <a:r>
              <a:t>• Browser displays the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3 – Features of Web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Routing – connects URLs to application functions.</a:t>
            </a:r>
          </a:p>
          <a:p>
            <a:pPr>
              <a:spcAft>
                <a:spcPts val="1000"/>
              </a:spcAft>
              <a:defRPr sz="2000"/>
            </a:pPr>
            <a:r>
              <a:t>• Templates – creates dynamic web pages.</a:t>
            </a:r>
          </a:p>
          <a:p>
            <a:pPr>
              <a:spcAft>
                <a:spcPts val="1000"/>
              </a:spcAft>
              <a:defRPr sz="2000"/>
            </a:pPr>
            <a:r>
              <a:t>• Database Connection – stores and retrieves data.</a:t>
            </a:r>
          </a:p>
          <a:p>
            <a:pPr>
              <a:spcAft>
                <a:spcPts val="1000"/>
              </a:spcAft>
              <a:defRPr sz="2000"/>
            </a:pPr>
            <a:r>
              <a:t>• Forms – collects information from users.</a:t>
            </a:r>
          </a:p>
          <a:p>
            <a:pPr>
              <a:spcAft>
                <a:spcPts val="1000"/>
              </a:spcAft>
              <a:defRPr sz="2000"/>
            </a:pPr>
            <a:r>
              <a:t>• Authentication – handles login and user accounts.</a:t>
            </a:r>
          </a:p>
          <a:p>
            <a:pPr>
              <a:spcAft>
                <a:spcPts val="1000"/>
              </a:spcAft>
              <a:defRPr sz="2000"/>
            </a:pPr>
            <a:r>
              <a:t>• Security – helps protect applications and user data.</a:t>
            </a:r>
          </a:p>
          <a:p>
            <a:pPr>
              <a:spcAft>
                <a:spcPts val="1000"/>
              </a:spcAft>
              <a:defRPr sz="2000"/>
            </a:pPr>
            <a:r>
              <a:t>• APIs – allows applications to communicate with each other.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3 – Why These Features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Reduce repetitive coding.</a:t>
            </a:r>
          </a:p>
          <a:p>
            <a:pPr>
              <a:spcAft>
                <a:spcPts val="1000"/>
              </a:spcAft>
              <a:defRPr sz="2000"/>
            </a:pPr>
            <a:r>
              <a:t>• Improve development speed.</a:t>
            </a:r>
          </a:p>
          <a:p>
            <a:pPr>
              <a:spcAft>
                <a:spcPts val="1000"/>
              </a:spcAft>
              <a:defRPr sz="2000"/>
            </a:pPr>
            <a:r>
              <a:t>• Make applications easier to organize.</a:t>
            </a:r>
          </a:p>
          <a:p>
            <a:pPr>
              <a:spcAft>
                <a:spcPts val="1000"/>
              </a:spcAft>
              <a:defRPr sz="2000"/>
            </a:pPr>
            <a:r>
              <a:t>• Provide reusable components.</a:t>
            </a:r>
          </a:p>
          <a:p>
            <a:pPr>
              <a:spcAft>
                <a:spcPts val="1000"/>
              </a:spcAft>
              <a:defRPr sz="2000"/>
            </a:pPr>
            <a:r>
              <a:t>• Improve security and maintenance.</a:t>
            </a:r>
          </a:p>
          <a:p>
            <a:pPr>
              <a:spcAft>
                <a:spcPts val="1000"/>
              </a:spcAft>
              <a:defRPr sz="2000"/>
            </a:pPr>
            <a:r>
              <a:t>• Help developers build complex applications efficiently.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4 – Django Web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Django is a popular web framework written in Python.</a:t>
            </a:r>
          </a:p>
          <a:p>
            <a:pPr>
              <a:spcAft>
                <a:spcPts val="1000"/>
              </a:spcAft>
              <a:defRPr sz="2000"/>
            </a:pPr>
            <a:r>
              <a:t>• It is open-source and designed for rapid development.</a:t>
            </a:r>
          </a:p>
          <a:p>
            <a:pPr>
              <a:spcAft>
                <a:spcPts val="1000"/>
              </a:spcAft>
              <a:defRPr sz="2000"/>
            </a:pPr>
            <a:r>
              <a:t>• Django follows the Model–Template–View (MTV) pattern.</a:t>
            </a:r>
          </a:p>
          <a:p>
            <a:pPr>
              <a:spcAft>
                <a:spcPts val="1000"/>
              </a:spcAft>
              <a:defRPr sz="2000"/>
            </a:pPr>
            <a:r>
              <a:t>• It includes many built-in features.</a:t>
            </a:r>
          </a:p>
          <a:p>
            <a:pPr>
              <a:spcAft>
                <a:spcPts val="1000"/>
              </a:spcAft>
              <a:defRPr sz="2000"/>
            </a:pPr>
            <a:r>
              <a:t>• Used for websites, web applications and APIs.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4 – Django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URLs – decides which page/function should handle a request.</a:t>
            </a:r>
          </a:p>
          <a:p>
            <a:pPr>
              <a:spcAft>
                <a:spcPts val="1000"/>
              </a:spcAft>
              <a:defRPr sz="2000"/>
            </a:pPr>
            <a:r>
              <a:t>• Views – contains the application logic.</a:t>
            </a:r>
          </a:p>
          <a:p>
            <a:pPr>
              <a:spcAft>
                <a:spcPts val="1000"/>
              </a:spcAft>
              <a:defRPr sz="2000"/>
            </a:pPr>
            <a:r>
              <a:t>• Templates – controls the webpage presentation.</a:t>
            </a:r>
          </a:p>
          <a:p>
            <a:pPr>
              <a:spcAft>
                <a:spcPts val="1000"/>
              </a:spcAft>
              <a:defRPr sz="2000"/>
            </a:pPr>
            <a:r>
              <a:t>• Models – define and work with database data.</a:t>
            </a:r>
          </a:p>
          <a:p>
            <a:pPr>
              <a:spcAft>
                <a:spcPts val="1000"/>
              </a:spcAft>
              <a:defRPr sz="2000"/>
            </a:pPr>
            <a:r>
              <a:t>• Django Admin – provides an easy interface to manage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4 – Simple Django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User visits a URL such as /home/.</a:t>
            </a:r>
          </a:p>
          <a:p>
            <a:pPr>
              <a:spcAft>
                <a:spcPts val="1000"/>
              </a:spcAft>
              <a:defRPr sz="2000"/>
            </a:pPr>
            <a:r>
              <a:t>• Django checks the URL pattern.</a:t>
            </a:r>
          </a:p>
          <a:p>
            <a:pPr>
              <a:spcAft>
                <a:spcPts val="1000"/>
              </a:spcAft>
              <a:defRPr sz="2000"/>
            </a:pPr>
            <a:r>
              <a:t>• The URL calls the related view.</a:t>
            </a:r>
          </a:p>
          <a:p>
            <a:pPr>
              <a:spcAft>
                <a:spcPts val="1000"/>
              </a:spcAft>
              <a:defRPr sz="2000"/>
            </a:pPr>
            <a:r>
              <a:t>• The view processes the request.</a:t>
            </a:r>
          </a:p>
          <a:p>
            <a:pPr>
              <a:spcAft>
                <a:spcPts val="1000"/>
              </a:spcAft>
              <a:defRPr sz="2000"/>
            </a:pPr>
            <a:r>
              <a:t>• A template can be used to display the result.</a:t>
            </a:r>
          </a:p>
          <a:p>
            <a:pPr>
              <a:spcAft>
                <a:spcPts val="1000"/>
              </a:spcAft>
              <a:defRPr sz="2000"/>
            </a:pPr>
            <a:r>
              <a:t>• Django sends the webpage back to the browser.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4 – Advantages &amp; Uses of Django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Fast development.</a:t>
            </a:r>
          </a:p>
          <a:p>
            <a:pPr>
              <a:spcAft>
                <a:spcPts val="1000"/>
              </a:spcAft>
              <a:defRPr sz="2000"/>
            </a:pPr>
            <a:r>
              <a:t>• Built-in security features.</a:t>
            </a:r>
          </a:p>
          <a:p>
            <a:pPr>
              <a:spcAft>
                <a:spcPts val="1000"/>
              </a:spcAft>
              <a:defRPr sz="2000"/>
            </a:pPr>
            <a:r>
              <a:t>• Database support through ORM.</a:t>
            </a:r>
          </a:p>
          <a:p>
            <a:pPr>
              <a:spcAft>
                <a:spcPts val="1000"/>
              </a:spcAft>
              <a:defRPr sz="2000"/>
            </a:pPr>
            <a:r>
              <a:t>• Authentication and admin panel included.</a:t>
            </a:r>
          </a:p>
          <a:p>
            <a:pPr>
              <a:spcAft>
                <a:spcPts val="1000"/>
              </a:spcAft>
              <a:defRPr sz="2000"/>
            </a:pPr>
            <a:r>
              <a:t>• Common uses: E-commerce, portals, dashboards, APIs and content websites.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5 – Flask Web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Flask is a lightweight web framework for Python.</a:t>
            </a:r>
          </a:p>
          <a:p>
            <a:pPr>
              <a:spcAft>
                <a:spcPts val="1000"/>
              </a:spcAft>
              <a:defRPr sz="2000"/>
            </a:pPr>
            <a:r>
              <a:t>• It is simple and flexible.</a:t>
            </a:r>
          </a:p>
          <a:p>
            <a:pPr>
              <a:spcAft>
                <a:spcPts val="1000"/>
              </a:spcAft>
              <a:defRPr sz="2000"/>
            </a:pPr>
            <a:r>
              <a:t>• Flask gives developers more freedom to choose components.</a:t>
            </a:r>
          </a:p>
          <a:p>
            <a:pPr>
              <a:spcAft>
                <a:spcPts val="1000"/>
              </a:spcAft>
              <a:defRPr sz="2000"/>
            </a:pPr>
            <a:r>
              <a:t>• Suitable for small applications, APIs and prototypes.</a:t>
            </a:r>
          </a:p>
          <a:p>
            <a:pPr>
              <a:spcAft>
                <a:spcPts val="1000"/>
              </a:spcAft>
              <a:defRPr sz="2000"/>
            </a:pPr>
            <a:r>
              <a:t>• It can also be used for larger applications with extensions.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5 – Simple Flask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Create a Flask application.</a:t>
            </a:r>
          </a:p>
          <a:p>
            <a:pPr>
              <a:spcAft>
                <a:spcPts val="1000"/>
              </a:spcAft>
              <a:defRPr sz="2000"/>
            </a:pPr>
            <a:r>
              <a:t>• Define a route such as /hello.</a:t>
            </a:r>
          </a:p>
          <a:p>
            <a:pPr>
              <a:spcAft>
                <a:spcPts val="1000"/>
              </a:spcAft>
              <a:defRPr sz="2000"/>
            </a:pPr>
            <a:r>
              <a:t>• Write a function for that route.</a:t>
            </a:r>
          </a:p>
          <a:p>
            <a:pPr>
              <a:spcAft>
                <a:spcPts val="1000"/>
              </a:spcAft>
              <a:defRPr sz="2000"/>
            </a:pPr>
            <a:r>
              <a:t>• Return a message or webpage.</a:t>
            </a:r>
          </a:p>
          <a:p>
            <a:pPr>
              <a:spcAft>
                <a:spcPts val="1000"/>
              </a:spcAft>
              <a:defRPr sz="2000"/>
            </a:pPr>
            <a:r>
              <a:t>• When the user opens /hello, Flask sends the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5 – Django vs Flask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Django: Full-featured framework with many built-in tools.</a:t>
            </a:r>
          </a:p>
          <a:p>
            <a:pPr>
              <a:spcAft>
                <a:spcPts val="1000"/>
              </a:spcAft>
              <a:defRPr sz="2000"/>
            </a:pPr>
            <a:r>
              <a:t>Flask: Lightweight framework with a minimal core.</a:t>
            </a:r>
          </a:p>
          <a:p>
            <a:pPr>
              <a:spcAft>
                <a:spcPts val="1000"/>
              </a:spcAft>
              <a:defRPr sz="2000"/>
            </a:pPr>
            <a:r>
              <a:t>Django: More structure and conventions.</a:t>
            </a:r>
          </a:p>
          <a:p>
            <a:pPr>
              <a:spcAft>
                <a:spcPts val="1000"/>
              </a:spcAft>
              <a:defRPr sz="2000"/>
            </a:pPr>
            <a:r>
              <a:t>Flask: More flexibility and choice.</a:t>
            </a:r>
          </a:p>
          <a:p>
            <a:pPr>
              <a:spcAft>
                <a:spcPts val="1000"/>
              </a:spcAft>
              <a:defRPr sz="2000"/>
            </a:pPr>
            <a:r>
              <a:t>Both: Python-based and widely used for web development.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6 – Uses of Web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E-commerce websites.</a:t>
            </a:r>
          </a:p>
          <a:p>
            <a:pPr>
              <a:spcAft>
                <a:spcPts val="1000"/>
              </a:spcAft>
              <a:defRPr sz="2000"/>
            </a:pPr>
            <a:r>
              <a:t>• Banking and business applications.</a:t>
            </a:r>
          </a:p>
          <a:p>
            <a:pPr>
              <a:spcAft>
                <a:spcPts val="1000"/>
              </a:spcAft>
              <a:defRPr sz="2000"/>
            </a:pPr>
            <a:r>
              <a:t>• Social media platforms.</a:t>
            </a:r>
          </a:p>
          <a:p>
            <a:pPr>
              <a:spcAft>
                <a:spcPts val="1000"/>
              </a:spcAft>
              <a:defRPr sz="2000"/>
            </a:pPr>
            <a:r>
              <a:t>• Educational portals.</a:t>
            </a:r>
          </a:p>
          <a:p>
            <a:pPr>
              <a:spcAft>
                <a:spcPts val="1000"/>
              </a:spcAft>
              <a:defRPr sz="2000"/>
            </a:pPr>
            <a:r>
              <a:t>• Online booking systems.</a:t>
            </a:r>
          </a:p>
          <a:p>
            <a:pPr>
              <a:spcAft>
                <a:spcPts val="1000"/>
              </a:spcAft>
              <a:defRPr sz="2000"/>
            </a:pPr>
            <a:r>
              <a:t>• Dashboards and management systems.</a:t>
            </a:r>
          </a:p>
          <a:p>
            <a:pPr>
              <a:spcAft>
                <a:spcPts val="1000"/>
              </a:spcAft>
              <a:defRPr sz="2000"/>
            </a:pPr>
            <a:r>
              <a:t>• REST APIs and backend services.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6 – Web Frameworks in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Data science models can be connected to web applications.</a:t>
            </a:r>
          </a:p>
          <a:p>
            <a:pPr>
              <a:spcAft>
                <a:spcPts val="1000"/>
              </a:spcAft>
              <a:defRPr sz="2000"/>
            </a:pPr>
            <a:r>
              <a:t>• Frameworks can create dashboards for data visualization.</a:t>
            </a:r>
          </a:p>
          <a:p>
            <a:pPr>
              <a:spcAft>
                <a:spcPts val="1000"/>
              </a:spcAft>
              <a:defRPr sz="2000"/>
            </a:pPr>
            <a:r>
              <a:t>• Machine learning models can be deployed through APIs.</a:t>
            </a:r>
          </a:p>
          <a:p>
            <a:pPr>
              <a:spcAft>
                <a:spcPts val="1000"/>
              </a:spcAft>
              <a:defRPr sz="2000"/>
            </a:pPr>
            <a:r>
              <a:t>• Users can enter data and receive model predictions.</a:t>
            </a:r>
          </a:p>
          <a:p>
            <a:pPr>
              <a:spcAft>
                <a:spcPts val="1000"/>
              </a:spcAft>
              <a:defRPr sz="2000"/>
            </a:pPr>
            <a:r>
              <a:t>• Python frameworks such as Django and Flask are commonly useful for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6 – Benefits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Faster and easier development.</a:t>
            </a:r>
          </a:p>
          <a:p>
            <a:pPr>
              <a:spcAft>
                <a:spcPts val="1000"/>
              </a:spcAft>
              <a:defRPr sz="2000"/>
            </a:pPr>
            <a:r>
              <a:t>• Reusable and organized code.</a:t>
            </a:r>
          </a:p>
          <a:p>
            <a:pPr>
              <a:spcAft>
                <a:spcPts val="1000"/>
              </a:spcAft>
              <a:defRPr sz="2000"/>
            </a:pPr>
            <a:r>
              <a:t>• Better security and maintenance.</a:t>
            </a:r>
          </a:p>
          <a:p>
            <a:pPr>
              <a:spcAft>
                <a:spcPts val="1000"/>
              </a:spcAft>
              <a:defRPr sz="2000"/>
            </a:pPr>
            <a:r>
              <a:t>• Useful for both simple and complex applications.</a:t>
            </a:r>
          </a:p>
          <a:p>
            <a:pPr>
              <a:spcAft>
                <a:spcPts val="1000"/>
              </a:spcAft>
              <a:defRPr sz="2000"/>
            </a:pPr>
            <a:r>
              <a:t>• Django and Flask are popular Python web frameworks.</a:t>
            </a:r>
          </a:p>
          <a:p>
            <a:pPr>
              <a:spcAft>
                <a:spcPts val="1000"/>
              </a:spcAft>
              <a:defRPr sz="2000"/>
            </a:pPr>
            <a:r>
              <a:t>• Conclusion: Web frameworks help developers build modern web applications efficiently.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Thank You</a:t>
            </a:r>
          </a:p>
          <a:p>
            <a:pPr>
              <a:spcAft>
                <a:spcPts val="1000"/>
              </a:spcAft>
              <a:defRPr sz="2000"/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